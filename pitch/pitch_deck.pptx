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E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371600"/>
            <a:ext cx="128016" cy="201168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2588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E8EEFC"/>
                </a:solidFill>
                <a:latin typeface="Segoe UI"/>
              </a:rPr>
              <a:t>HEATSENTINEL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FFD166"/>
                </a:solidFill>
                <a:latin typeface="Segoe UI"/>
              </a:rPr>
              <a:t>From 2 meters above ground to action in 60 seconds.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06324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B97B0"/>
                </a:solidFill>
                <a:latin typeface="Segoe UI"/>
              </a:rPr>
              <a:t>FortyGuard Hackathon'26 — Building the World's Temperature AI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8B97B0"/>
                </a:solidFill>
                <a:latin typeface="Segoe UI"/>
              </a:rPr>
              <a:t>Hyperlocal heat intelligence for Cotonou, Benin — live demo on real Phoenix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4892040"/>
            <a:ext cx="2468880" cy="475488"/>
          </a:xfrm>
          <a:prstGeom prst="roundRect">
            <a:avLst/>
          </a:prstGeom>
          <a:solidFill>
            <a:srgbClr val="111B31"/>
          </a:solidFill>
          <a:ln w="12700">
            <a:solidFill>
              <a:srgbClr val="2DD4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974336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DD4A7"/>
                </a:solidFill>
                <a:latin typeface="Segoe UI"/>
              </a:rPr>
              <a:t>Resilient Cities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4892040"/>
            <a:ext cx="2468880" cy="475488"/>
          </a:xfrm>
          <a:prstGeom prst="roundRect">
            <a:avLst/>
          </a:prstGeom>
          <a:solidFill>
            <a:srgbClr val="111B31"/>
          </a:solidFill>
          <a:ln w="1270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4974336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4CC9F0"/>
                </a:solidFill>
                <a:latin typeface="Segoe UI"/>
              </a:rPr>
              <a:t>Agentic 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4892040"/>
            <a:ext cx="2468880" cy="475488"/>
          </a:xfrm>
          <a:prstGeom prst="roundRect">
            <a:avLst/>
          </a:prstGeom>
          <a:solidFill>
            <a:srgbClr val="111B31"/>
          </a:solidFill>
          <a:ln w="1270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974336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D166"/>
                </a:solidFill>
                <a:latin typeface="Segoe UI"/>
              </a:rPr>
              <a:t>Data Analysis &amp; Correlation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00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B97B0"/>
                </a:solidFill>
                <a:latin typeface="Segoe UI"/>
              </a:rPr>
              <a:t>Team ClimVision  ·  Powered by FortyGuard Temperature API®  ·  NVIDIA-recognized stack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8B97B0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0350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E8EEFC"/>
                </a:solidFill>
                <a:latin typeface="Segoe UI"/>
              </a:rPr>
              <a:t>Heat is the silent killer of growing cities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5394960" cy="2103120"/>
          </a:xfrm>
          <a:prstGeom prst="roundRect">
            <a:avLst/>
          </a:prstGeom>
          <a:solidFill>
            <a:srgbClr val="111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48463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FF5E57"/>
                </a:solidFill>
                <a:latin typeface="Segoe UI"/>
              </a:rPr>
              <a:t>2,000,000+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B97B0"/>
                </a:solidFill>
                <a:latin typeface="Segoe UI"/>
              </a:rPr>
              <a:t>premature heat-related deaths per year worldwide (WHO). Heat is the deadliest climate hazard — and the least prepared for.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394960" cy="2103120"/>
          </a:xfrm>
          <a:prstGeom prst="roundRect">
            <a:avLst/>
          </a:prstGeom>
          <a:solidFill>
            <a:srgbClr val="111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8463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E8EEFC"/>
                </a:solidFill>
                <a:latin typeface="Segoe UI"/>
              </a:rPr>
              <a:t>Cotonou today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8B97B0"/>
                </a:solidFill>
                <a:latin typeface="Segoe UI"/>
              </a:rPr>
              <a:t>≈700,000 residents (commune) · 1.5M+ metro · humid tropical heat: feels-like &gt;40 °C · dense districts next to the port · millions of outdoor workers.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D166"/>
                </a:solidFill>
                <a:latin typeface="Segoe UI"/>
              </a:rPr>
              <a:t>Hyperlocal heat early-warning systems in Cotonou:  zero.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FF6B35"/>
                </a:solidFill>
                <a:latin typeface="Segoe UI"/>
              </a:rPr>
              <a:t>▪  </a:t>
            </a:r>
            <a:r>
              <a:rPr sz="1550" b="1">
                <a:solidFill>
                  <a:srgbClr val="E8EEFC"/>
                </a:solidFill>
                <a:latin typeface="Segoe UI"/>
              </a:rPr>
              <a:t>City-scale forecasts</a:t>
            </a:r>
            <a:r>
              <a:rPr sz="1550" b="0">
                <a:solidFill>
                  <a:srgbClr val="8B97B0"/>
                </a:solidFill>
                <a:latin typeface="Segoe UI"/>
              </a:rPr>
              <a:t> — too coarse: a 2 °C difference between the port and the beach can mean health or heatstroke.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FF6B35"/>
                </a:solidFill>
                <a:latin typeface="Segoe UI"/>
              </a:rPr>
              <a:t>▪  </a:t>
            </a:r>
            <a:r>
              <a:rPr sz="1550" b="1">
                <a:solidFill>
                  <a:srgbClr val="E8EEFC"/>
                </a:solidFill>
                <a:latin typeface="Segoe UI"/>
              </a:rPr>
              <a:t>Late alerts</a:t>
            </a:r>
            <a:r>
              <a:rPr sz="1550" b="0">
                <a:solidFill>
                  <a:srgbClr val="8B97B0"/>
                </a:solidFill>
                <a:latin typeface="Segoe UI"/>
              </a:rPr>
              <a:t> — weather bulletins arrive at 8 AM — the peak is at 3 PM.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FF6B35"/>
                </a:solidFill>
                <a:latin typeface="Segoe UI"/>
              </a:rPr>
              <a:t>▪  </a:t>
            </a:r>
            <a:r>
              <a:rPr sz="1550" b="1">
                <a:solidFill>
                  <a:srgbClr val="E8EEFC"/>
                </a:solidFill>
                <a:latin typeface="Segoe UI"/>
              </a:rPr>
              <a:t>No action loop</a:t>
            </a:r>
            <a:r>
              <a:rPr sz="1550" b="0">
                <a:solidFill>
                  <a:srgbClr val="8B97B0"/>
                </a:solidFill>
                <a:latin typeface="Segoe UI"/>
              </a:rPr>
              <a:t> — nobody translates a forecast into what a hospital, school or market must do, when.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8B97B0"/>
                </a:solidFill>
                <a:latin typeface="Segoe UI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0350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E8EEFC"/>
                </a:solidFill>
                <a:latin typeface="Segoe UI"/>
              </a:rPr>
              <a:t>Street-level heat data finally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88136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FF6B35"/>
                </a:solidFill>
                <a:latin typeface="Segoe UI"/>
              </a:rPr>
              <a:t>▪  </a:t>
            </a:r>
            <a:r>
              <a:rPr sz="1600" b="1">
                <a:solidFill>
                  <a:srgbClr val="E8EEFC"/>
                </a:solidFill>
                <a:latin typeface="Segoe UI"/>
              </a:rPr>
              <a:t>FortyGuard Temperature API®</a:t>
            </a:r>
            <a:r>
              <a:rPr sz="1600" b="0">
                <a:solidFill>
                  <a:srgbClr val="8B97B0"/>
                </a:solidFill>
                <a:latin typeface="Segoe UI"/>
              </a:rPr>
              <a:t> — hyperlocal urban temperature: 2 m above ground, 20 m² resolution, real-time, powered by NVIDIA-recognized Large Temperature Models.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FF6B35"/>
                </a:solidFill>
                <a:latin typeface="Segoe UI"/>
              </a:rPr>
              <a:t>▪  </a:t>
            </a:r>
            <a:r>
              <a:rPr sz="1600" b="1">
                <a:solidFill>
                  <a:srgbClr val="E8EEFC"/>
                </a:solidFill>
                <a:latin typeface="Segoe UI"/>
              </a:rPr>
              <a:t>The physics</a:t>
            </a:r>
            <a:r>
              <a:rPr sz="1600" b="0">
                <a:solidFill>
                  <a:srgbClr val="8B97B0"/>
                </a:solidFill>
                <a:latin typeface="Segoe UI"/>
              </a:rPr>
              <a:t> — heat kills at street level: asphalt, traffic, markets, shade — not at the airport sensor 10 km away.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FF6B35"/>
                </a:solidFill>
                <a:latin typeface="Segoe UI"/>
              </a:rPr>
              <a:t>▪  </a:t>
            </a:r>
            <a:r>
              <a:rPr sz="1600" b="1">
                <a:solidFill>
                  <a:srgbClr val="E8EEFC"/>
                </a:solidFill>
                <a:latin typeface="Segoe UI"/>
              </a:rPr>
              <a:t>AI closes the loop</a:t>
            </a:r>
            <a:r>
              <a:rPr sz="1600" b="0">
                <a:solidFill>
                  <a:srgbClr val="8B97B0"/>
                </a:solidFill>
                <a:latin typeface="Segoe UI"/>
              </a:rPr>
              <a:t> — models now turn raw readings into 6-hour nowcasts and autonomous alerts in seconds, on a $120 edge computer.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846320"/>
            <a:ext cx="10881360" cy="1371600"/>
          </a:xfrm>
          <a:prstGeom prst="roundRect">
            <a:avLst/>
          </a:prstGeom>
          <a:solidFill>
            <a:srgbClr val="111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074920"/>
            <a:ext cx="102412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D166"/>
                </a:solidFill>
                <a:latin typeface="Segoe UI"/>
              </a:rPr>
              <a:t>The data now exists at street level. </a:t>
            </a:r>
            <a:r>
              <a:rPr sz="1800" b="0">
                <a:solidFill>
                  <a:srgbClr val="E8EEFC"/>
                </a:solidFill>
                <a:latin typeface="Segoe UI"/>
              </a:rPr>
              <a:t>What was missing is the brain: the system that watches, predicts, decides and acts.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8B97B0"/>
                </a:solidFill>
                <a:latin typeface="Segoe U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0350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E8EEFC"/>
                </a:solidFill>
                <a:latin typeface="Segoe UI"/>
              </a:rPr>
              <a:t>HeatSentinel — an agentic AI for urban 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FF6B35"/>
                </a:solidFill>
                <a:latin typeface="Segoe UI"/>
              </a:rPr>
              <a:t>▪  </a:t>
            </a:r>
            <a:r>
              <a:rPr sz="1550" b="1">
                <a:solidFill>
                  <a:srgbClr val="E8EEFC"/>
                </a:solidFill>
                <a:latin typeface="Segoe UI"/>
              </a:rPr>
              <a:t>Watch</a:t>
            </a:r>
            <a:r>
              <a:rPr sz="1550" b="0">
                <a:solidFill>
                  <a:srgbClr val="8B97B0"/>
                </a:solidFill>
                <a:latin typeface="Segoe UI"/>
              </a:rPr>
              <a:t> — continuously monitors 20 Temperature API® measurement points — 20 m² resolution, modeled 2 m above ground (FortyGuard's mesh; we install no hardware). Cotonou is the deployment target; the live demo runs on Phoenix, where the mesh is already in service.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FF6B35"/>
                </a:solidFill>
                <a:latin typeface="Segoe UI"/>
              </a:rPr>
              <a:t>▪  </a:t>
            </a:r>
            <a:r>
              <a:rPr sz="1550" b="1">
                <a:solidFill>
                  <a:srgbClr val="E8EEFC"/>
                </a:solidFill>
                <a:latin typeface="Segoe UI"/>
              </a:rPr>
              <a:t>Predict</a:t>
            </a:r>
            <a:r>
              <a:rPr sz="1550" b="0">
                <a:solidFill>
                  <a:srgbClr val="8B97B0"/>
                </a:solidFill>
                <a:latin typeface="Segoe UI"/>
              </a:rPr>
              <a:t> — hybrid Ridge+LightGBM nowcast of the 6-hour temperature peak per node — MAE 0.26 °C / R² 0.95 (Cotonou), 0.61 °C / 0.97 (Phoenix) — plus 48 h z-score anomaly detection for local heat spikes and sensor drift.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FF6B35"/>
                </a:solidFill>
                <a:latin typeface="Segoe UI"/>
              </a:rPr>
              <a:t>▪  </a:t>
            </a:r>
            <a:r>
              <a:rPr sz="1550" b="1">
                <a:solidFill>
                  <a:srgbClr val="E8EEFC"/>
                </a:solidFill>
                <a:latin typeface="Segoe UI"/>
              </a:rPr>
              <a:t>Decide</a:t>
            </a:r>
            <a:r>
              <a:rPr sz="1550" b="0">
                <a:solidFill>
                  <a:srgbClr val="8B97B0"/>
                </a:solidFill>
                <a:latin typeface="Segoe UI"/>
              </a:rPr>
              <a:t> — a transparent policy engine deduplicates, escalates only when needed, and keeps a full audit ledger (no black box, no LLM dependency).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FF6B35"/>
                </a:solidFill>
                <a:latin typeface="Segoe UI"/>
              </a:rPr>
              <a:t>▪  </a:t>
            </a:r>
            <a:r>
              <a:rPr sz="1550" b="1">
                <a:solidFill>
                  <a:srgbClr val="E8EEFC"/>
                </a:solidFill>
                <a:latin typeface="Segoe UI"/>
              </a:rPr>
              <a:t>Act</a:t>
            </a:r>
            <a:r>
              <a:rPr sz="1550" b="0">
                <a:solidFill>
                  <a:srgbClr val="8B97B0"/>
                </a:solidFill>
                <a:latin typeface="Segoe UI"/>
              </a:rPr>
              <a:t> — dispatches bilingual alerts (FR/EN) with concrete actions: open cooling centers, hospital surge, pause outdoor work 2-5 PM, hydrate zones.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394960"/>
            <a:ext cx="10881360" cy="960120"/>
          </a:xfrm>
          <a:prstGeom prst="roundRect">
            <a:avLst/>
          </a:prstGeom>
          <a:solidFill>
            <a:srgbClr val="111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577840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8EEFC"/>
                </a:solidFill>
                <a:latin typeface="Segoe UI"/>
              </a:rPr>
              <a:t>One platform, three tracks:  </a:t>
            </a:r>
            <a:r>
              <a:rPr sz="1500" b="1">
                <a:solidFill>
                  <a:srgbClr val="4CC9F0"/>
                </a:solidFill>
                <a:latin typeface="Segoe UI"/>
              </a:rPr>
              <a:t>Resilient Cities  ×  Agentic AI  ×  Data Analysis &amp; Correlation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8B97B0"/>
                </a:solidFill>
                <a:latin typeface="Segoe U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0350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E8EEFC"/>
                </a:solidFill>
                <a:latin typeface="Segoe UI"/>
              </a:rPr>
              <a:t>Architecture — data in, actions 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737360"/>
            <a:ext cx="2084831" cy="2834640"/>
          </a:xfrm>
          <a:prstGeom prst="roundRect">
            <a:avLst/>
          </a:prstGeom>
          <a:solidFill>
            <a:srgbClr val="111B31"/>
          </a:solidFill>
          <a:ln w="1270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1874519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4CC9F0"/>
                </a:solidFill>
                <a:latin typeface="Segoe UI"/>
              </a:rPr>
              <a:t>1 ·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2331720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EFC"/>
                </a:solidFill>
                <a:latin typeface="Segoe UI"/>
              </a:rPr>
              <a:t>FortyGuard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2807208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EFC"/>
                </a:solidFill>
                <a:latin typeface="Segoe UI"/>
              </a:rPr>
              <a:t>Temperature API®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3282696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EFC"/>
                </a:solidFill>
                <a:latin typeface="Segoe UI"/>
              </a:rPr>
              <a:t>20 nodes · 2 m · 20 m²</a:t>
            </a:r>
          </a:p>
        </p:txBody>
      </p:sp>
      <p:sp>
        <p:nvSpPr>
          <p:cNvPr id="10" name="Chevron 9"/>
          <p:cNvSpPr/>
          <p:nvPr/>
        </p:nvSpPr>
        <p:spPr>
          <a:xfrm>
            <a:off x="2496312" y="2926080"/>
            <a:ext cx="219456" cy="457200"/>
          </a:xfrm>
          <a:prstGeom prst="chevron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15768" y="1737360"/>
            <a:ext cx="2084831" cy="2834640"/>
          </a:xfrm>
          <a:prstGeom prst="roundRect">
            <a:avLst/>
          </a:prstGeom>
          <a:solidFill>
            <a:srgbClr val="111B31"/>
          </a:solidFill>
          <a:ln w="1270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25496" y="1874519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D166"/>
                </a:solidFill>
                <a:latin typeface="Segoe UI"/>
              </a:rPr>
              <a:t>2 ·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25496" y="2331720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EFC"/>
                </a:solidFill>
                <a:latin typeface="Segoe UI"/>
              </a:rPr>
              <a:t>Diurnal cycle · UHI per zone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25496" y="2807208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EFC"/>
                </a:solidFill>
                <a:latin typeface="Segoe UI"/>
              </a:rPr>
              <a:t>wet bulb (Stull) · trends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25496" y="3282696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EFC"/>
                </a:solidFill>
                <a:latin typeface="Segoe UI"/>
              </a:rPr>
              <a:t>24h/72h · season</a:t>
            </a:r>
          </a:p>
        </p:txBody>
      </p:sp>
      <p:sp>
        <p:nvSpPr>
          <p:cNvPr id="16" name="Chevron 15"/>
          <p:cNvSpPr/>
          <p:nvPr/>
        </p:nvSpPr>
        <p:spPr>
          <a:xfrm>
            <a:off x="4800600" y="2926080"/>
            <a:ext cx="219456" cy="457200"/>
          </a:xfrm>
          <a:prstGeom prst="chevron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0056" y="1737360"/>
            <a:ext cx="2084831" cy="2834640"/>
          </a:xfrm>
          <a:prstGeom prst="roundRect">
            <a:avLst/>
          </a:prstGeom>
          <a:solidFill>
            <a:srgbClr val="111B31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9784" y="1874519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6B35"/>
                </a:solidFill>
                <a:latin typeface="Segoe UI"/>
              </a:rPr>
              <a:t>3 · AI 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9784" y="2331720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EFC"/>
                </a:solidFill>
                <a:latin typeface="Segoe UI"/>
              </a:rPr>
              <a:t>Hybrid Ridge+LightGBM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9784" y="2807208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EFC"/>
                </a:solidFill>
                <a:latin typeface="Segoe UI"/>
              </a:rPr>
              <a:t>nowcast 6 h ahead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9784" y="3282696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EFC"/>
                </a:solidFill>
                <a:latin typeface="Segoe UI"/>
              </a:rPr>
              <a:t>MAE 0.26 °C · R² 0.95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3758183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EFC"/>
                </a:solidFill>
                <a:latin typeface="Segoe UI"/>
              </a:rPr>
              <a:t>+ 48 h z-score (anomalies)</a:t>
            </a:r>
          </a:p>
        </p:txBody>
      </p:sp>
      <p:sp>
        <p:nvSpPr>
          <p:cNvPr id="23" name="Chevron 22"/>
          <p:cNvSpPr/>
          <p:nvPr/>
        </p:nvSpPr>
        <p:spPr>
          <a:xfrm>
            <a:off x="7104888" y="2926080"/>
            <a:ext cx="219456" cy="457200"/>
          </a:xfrm>
          <a:prstGeom prst="chevron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24344" y="1737360"/>
            <a:ext cx="2084831" cy="2834640"/>
          </a:xfrm>
          <a:prstGeom prst="roundRect">
            <a:avLst/>
          </a:prstGeom>
          <a:solidFill>
            <a:srgbClr val="111B31"/>
          </a:solidFill>
          <a:ln w="12700">
            <a:solidFill>
              <a:srgbClr val="2DD4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34071" y="1874519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DD4A7"/>
                </a:solidFill>
                <a:latin typeface="Segoe UI"/>
              </a:rPr>
              <a:t>4 ·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4071" y="2331720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EFC"/>
                </a:solidFill>
                <a:latin typeface="Segoe UI"/>
              </a:rPr>
              <a:t>Policy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34071" y="2807208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EFC"/>
                </a:solidFill>
                <a:latin typeface="Segoe UI"/>
              </a:rPr>
              <a:t>dedup + escalation 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4071" y="3282696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EFC"/>
                </a:solidFill>
                <a:latin typeface="Segoe UI"/>
              </a:rPr>
              <a:t>audit ledger (JSONL)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4071" y="3758183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EFC"/>
                </a:solidFill>
                <a:latin typeface="Segoe UI"/>
              </a:rPr>
              <a:t>FR/EN alert drafting</a:t>
            </a:r>
          </a:p>
        </p:txBody>
      </p:sp>
      <p:sp>
        <p:nvSpPr>
          <p:cNvPr id="30" name="Chevron 29"/>
          <p:cNvSpPr/>
          <p:nvPr/>
        </p:nvSpPr>
        <p:spPr>
          <a:xfrm>
            <a:off x="9409176" y="2926080"/>
            <a:ext cx="219456" cy="457200"/>
          </a:xfrm>
          <a:prstGeom prst="chevron">
            <a:avLst/>
          </a:prstGeom>
          <a:solidFill>
            <a:srgbClr val="2DD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28632" y="1737360"/>
            <a:ext cx="2084831" cy="2834640"/>
          </a:xfrm>
          <a:prstGeom prst="roundRect">
            <a:avLst/>
          </a:prstGeom>
          <a:solidFill>
            <a:srgbClr val="111B31"/>
          </a:solidFill>
          <a:ln w="12700">
            <a:solidFill>
              <a:srgbClr val="FF5E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59" y="1874519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5E57"/>
                </a:solidFill>
                <a:latin typeface="Segoe UI"/>
              </a:rPr>
              <a:t>5 · 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59" y="2331720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EFC"/>
                </a:solidFill>
                <a:latin typeface="Segoe UI"/>
              </a:rPr>
              <a:t>Hospitals · schools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359" y="2807208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EFC"/>
                </a:solidFill>
                <a:latin typeface="Segoe UI"/>
              </a:rPr>
              <a:t>outdoor workers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59" y="3282696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EFC"/>
                </a:solidFill>
                <a:latin typeface="Segoe UI"/>
              </a:rPr>
              <a:t>cooling centers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59" y="3758183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E8EEFC"/>
                </a:solidFill>
                <a:latin typeface="Segoe UI"/>
              </a:rPr>
              <a:t>public advisories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93776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B97B0"/>
                </a:solidFill>
                <a:latin typeface="Segoe UI"/>
              </a:rPr>
              <a:t>Real-time loop every 15 s in the demo  ·  end-to-end latency &lt; 5 s on CPU  ·  dashboard self-contained: works offline, in the field, on a Jetson.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8B97B0"/>
                </a:solidFill>
                <a:latin typeface="Segoe U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0350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E8EEFC"/>
                </a:solidFill>
                <a:latin typeface="Segoe UI"/>
              </a:rPr>
              <a:t>What we built &amp; measured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37360"/>
            <a:ext cx="5394960" cy="1645920"/>
          </a:xfrm>
          <a:prstGeom prst="roundRect">
            <a:avLst/>
          </a:prstGeom>
          <a:solidFill>
            <a:srgbClr val="111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2103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6B35"/>
                </a:solidFill>
                <a:latin typeface="Segoe UI"/>
              </a:rPr>
              <a:t>0.26 °C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39" y="2011679"/>
            <a:ext cx="29260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8B97B0"/>
                </a:solidFill>
                <a:latin typeface="Segoe UI"/>
              </a:rPr>
              <a:t>MAE on the 6-hour-ahead nowcast, Cotonou (0.61 °C Phoenix) — 24 h time-based hold-out, 20 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394960" cy="1645920"/>
          </a:xfrm>
          <a:prstGeom prst="roundRect">
            <a:avLst/>
          </a:prstGeom>
          <a:solidFill>
            <a:srgbClr val="111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2103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4CC9F0"/>
                </a:solidFill>
                <a:latin typeface="Segoe UI"/>
              </a:rPr>
              <a:t>0.95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011679"/>
            <a:ext cx="29260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8B97B0"/>
                </a:solidFill>
                <a:latin typeface="Segoe UI"/>
              </a:rPr>
              <a:t>R² — the model captures ≥95% of the peak-temperature variance (0.97 Phoenix)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611879"/>
            <a:ext cx="5394960" cy="1645920"/>
          </a:xfrm>
          <a:prstGeom prst="roundRect">
            <a:avLst/>
          </a:prstGeom>
          <a:solidFill>
            <a:srgbClr val="111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840479"/>
            <a:ext cx="2103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D166"/>
                </a:solidFill>
                <a:latin typeface="Segoe UI"/>
              </a:rPr>
              <a:t>2 MB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3886200"/>
            <a:ext cx="29260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8B97B0"/>
                </a:solidFill>
                <a:latin typeface="Segoe UI"/>
              </a:rPr>
              <a:t>model size — runs on a laptop CPU and on an NVIDIA Jetson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611879"/>
            <a:ext cx="5394960" cy="1645920"/>
          </a:xfrm>
          <a:prstGeom prst="roundRect">
            <a:avLst/>
          </a:prstGeom>
          <a:solidFill>
            <a:srgbClr val="111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840479"/>
            <a:ext cx="2103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2DD4A7"/>
                </a:solidFill>
                <a:latin typeface="Segoe UI"/>
              </a:rPr>
              <a:t>&lt; 5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886200"/>
            <a:ext cx="29260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8B97B0"/>
                </a:solidFill>
                <a:latin typeface="Segoe UI"/>
              </a:rPr>
              <a:t>from API reading to decision (monitor → alert → action)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48640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8EEFC"/>
                </a:solidFill>
                <a:latin typeface="Segoe UI"/>
              </a:rPr>
              <a:t>Live demo: </a:t>
            </a:r>
            <a:r>
              <a:rPr sz="1400" b="0">
                <a:solidFill>
                  <a:srgbClr val="8B97B0"/>
                </a:solidFill>
                <a:latin typeface="Segoe UI"/>
              </a:rPr>
              <a:t>real-time heat map · 6 h nowcast per node · agent alert feed with concrete actions · full agent log (video + dashboard in submission).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DD4A7"/>
                </a:solidFill>
                <a:latin typeface="Segoe UI"/>
              </a:rPr>
              <a:t>Runs on REAL data: </a:t>
            </a:r>
            <a:r>
              <a:rPr sz="1200" b="0">
                <a:solidFill>
                  <a:srgbClr val="8B97B0"/>
                </a:solidFill>
                <a:latin typeface="Segoe UI"/>
              </a:rPr>
              <a:t>Temperature API® tiles harvested on Phoenix — 3 full days × 20 points (24–26 Aug 2026, Downtown peaked 42.91 °C on the 26th); the simulator is re-anchored daily on these real min/avg/max. Cotonou (not yet in the mesh) is calibrated on Open-Meteo (hourly bias −0.6 °C). Reproducible: harvest.py, validate.py.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8B97B0"/>
                </a:solidFill>
                <a:latin typeface="Segoe UI"/>
              </a:rPr>
              <a:t>AI &amp;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0350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E8EEFC"/>
                </a:solidFill>
                <a:latin typeface="Segoe UI"/>
              </a:rPr>
              <a:t>Built for the NVIDIA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8813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FF6B35"/>
                </a:solidFill>
                <a:latin typeface="Segoe UI"/>
              </a:rPr>
              <a:t>▪  </a:t>
            </a:r>
            <a:r>
              <a:rPr sz="1550" b="1">
                <a:solidFill>
                  <a:srgbClr val="E8EEFC"/>
                </a:solidFill>
                <a:latin typeface="Segoe UI"/>
              </a:rPr>
              <a:t>Edge-first design</a:t>
            </a:r>
            <a:r>
              <a:rPr sz="1550" b="0">
                <a:solidFill>
                  <a:srgbClr val="8B97B0"/>
                </a:solidFill>
                <a:latin typeface="Segoe UI"/>
              </a:rPr>
              <a:t> — the whole stack (features, model, agent) targets an NVIDIA Jetson: ONNX export, &lt; 10 ms inference, offline operation — the Jetson kit prize becomes our first edge node.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FF6B35"/>
                </a:solidFill>
                <a:latin typeface="Segoe UI"/>
              </a:rPr>
              <a:t>▪  </a:t>
            </a:r>
            <a:r>
              <a:rPr sz="1550" b="1">
                <a:solidFill>
                  <a:srgbClr val="E8EEFC"/>
                </a:solidFill>
                <a:latin typeface="Segoe UI"/>
              </a:rPr>
              <a:t>City-scale training</a:t>
            </a:r>
            <a:r>
              <a:rPr sz="1550" b="0">
                <a:solidFill>
                  <a:srgbClr val="8B97B0"/>
                </a:solidFill>
                <a:latin typeface="Segoe UI"/>
              </a:rPr>
              <a:t> — RAPIDS / cuML for GPU-accelerated training when the grid goes from 20 nodes to millions of 20 m² cells across a metropolitan area.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FF6B35"/>
                </a:solidFill>
                <a:latin typeface="Segoe UI"/>
              </a:rPr>
              <a:t>▪  </a:t>
            </a:r>
            <a:r>
              <a:rPr sz="1550" b="1">
                <a:solidFill>
                  <a:srgbClr val="E8EEFC"/>
                </a:solidFill>
                <a:latin typeface="Segoe UI"/>
              </a:rPr>
              <a:t>CUDA-X accelerated pipeline</a:t>
            </a:r>
            <a:r>
              <a:rPr sz="1550" b="0">
                <a:solidFill>
                  <a:srgbClr val="8B97B0"/>
                </a:solidFill>
                <a:latin typeface="Segoe UI"/>
              </a:rPr>
              <a:t> — the feature pipeline (diurnal, UHI, wet bulb, trends) is vectorized and maps directly to CUDA-X accelerated data processing for the real-time path.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FF6B35"/>
                </a:solidFill>
                <a:latin typeface="Segoe UI"/>
              </a:rPr>
              <a:t>▪  </a:t>
            </a:r>
            <a:r>
              <a:rPr sz="1550" b="1">
                <a:solidFill>
                  <a:srgbClr val="E8EEFC"/>
                </a:solidFill>
                <a:latin typeface="Segoe UI"/>
              </a:rPr>
              <a:t>Reproducible</a:t>
            </a:r>
            <a:r>
              <a:rPr sz="1550" b="0">
                <a:solidFill>
                  <a:srgbClr val="8B97B0"/>
                </a:solidFill>
                <a:latin typeface="Segoe UI"/>
              </a:rPr>
              <a:t> — one command (train.py) regenerates model, metrics and demo snapshot — no hand-tuning, no magic.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120640"/>
            <a:ext cx="10881360" cy="1188720"/>
          </a:xfrm>
          <a:prstGeom prst="roundRect">
            <a:avLst/>
          </a:prstGeom>
          <a:solidFill>
            <a:srgbClr val="111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303520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4CC9F0"/>
                </a:solidFill>
                <a:latin typeface="Segoe UI"/>
              </a:rPr>
              <a:t>Small model, big scale: </a:t>
            </a:r>
            <a:r>
              <a:rPr sz="1500" b="0">
                <a:solidFill>
                  <a:srgbClr val="E8EEFC"/>
                </a:solidFill>
                <a:latin typeface="Segoe UI"/>
              </a:rPr>
              <a:t>2 MB on the edge, GPU training path for the whole city — the classic edge-cloud architecture NVIDIA AI Factories deploy in production.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8B97B0"/>
                </a:solidFill>
                <a:latin typeface="Segoe UI"/>
              </a:rPr>
              <a:t>EDGE NETWORK —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0350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E8EEFC"/>
                </a:solidFill>
                <a:latin typeface="Segoe UI"/>
              </a:rPr>
              <a:t>Post-hackathon vision: a community mesh, calibrated against the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88136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FF6B35"/>
                </a:solidFill>
                <a:latin typeface="Segoe UI"/>
              </a:rPr>
              <a:t>▪  </a:t>
            </a:r>
            <a:r>
              <a:rPr sz="1550" b="1">
                <a:solidFill>
                  <a:srgbClr val="E8EEFC"/>
                </a:solidFill>
                <a:latin typeface="Segoe UI"/>
              </a:rPr>
              <a:t>Jetson + $5 thermal sensor</a:t>
            </a:r>
            <a:r>
              <a:rPr sz="1550" b="0">
                <a:solidFill>
                  <a:srgbClr val="8B97B0"/>
                </a:solidFill>
                <a:latin typeface="Segoe UI"/>
              </a:rPr>
              <a:t> — = a 2 m street-level node for ~$120: market squares, schoolyards, building sites, hospital entrances.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FF6B35"/>
                </a:solidFill>
                <a:latin typeface="Segoe UI"/>
              </a:rPr>
              <a:t>▪  </a:t>
            </a:r>
            <a:r>
              <a:rPr sz="1550" b="1">
                <a:solidFill>
                  <a:srgbClr val="E8EEFC"/>
                </a:solidFill>
                <a:latin typeface="Segoe UI"/>
              </a:rPr>
              <a:t>Self-calibrating</a:t>
            </a:r>
            <a:r>
              <a:rPr sz="1550" b="0">
                <a:solidFill>
                  <a:srgbClr val="8B97B0"/>
                </a:solidFill>
                <a:latin typeface="Segoe UI"/>
              </a:rPr>
              <a:t> — each node reconciles its reading against the FortyGuard field — no manual maintenance, drift detected automatically.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FF6B35"/>
                </a:solidFill>
                <a:latin typeface="Segoe UI"/>
              </a:rPr>
              <a:t>▪  </a:t>
            </a:r>
            <a:r>
              <a:rPr sz="1550" b="1">
                <a:solidFill>
                  <a:srgbClr val="E8EEFC"/>
                </a:solidFill>
                <a:latin typeface="Segoe UI"/>
              </a:rPr>
              <a:t>Data sovereignty</a:t>
            </a:r>
            <a:r>
              <a:rPr sz="1550" b="0">
                <a:solidFill>
                  <a:srgbClr val="8B97B0"/>
                </a:solidFill>
                <a:latin typeface="Segoe UI"/>
              </a:rPr>
              <a:t> — the city owns its thermal data; the mesh keeps working through internet and power outages (autonomous local mode).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FF6B35"/>
                </a:solidFill>
                <a:latin typeface="Segoe UI"/>
              </a:rPr>
              <a:t>▪  </a:t>
            </a:r>
            <a:r>
              <a:rPr sz="1550" b="1">
                <a:solidFill>
                  <a:srgbClr val="E8EEFC"/>
                </a:solidFill>
                <a:latin typeface="Segoe UI"/>
              </a:rPr>
              <a:t>Community</a:t>
            </a:r>
            <a:r>
              <a:rPr sz="1550" b="0">
                <a:solidFill>
                  <a:srgbClr val="8B97B0"/>
                </a:solidFill>
                <a:latin typeface="Segoe UI"/>
              </a:rPr>
              <a:t> — nodes are operated by local volunteers &amp; students — heat resilience as a civic tool, not a black box.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892040"/>
            <a:ext cx="10881360" cy="1371600"/>
          </a:xfrm>
          <a:prstGeom prst="roundRect">
            <a:avLst/>
          </a:prstGeom>
          <a:solidFill>
            <a:srgbClr val="111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074920"/>
            <a:ext cx="102412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D166"/>
                </a:solidFill>
                <a:latin typeface="Segoe UI"/>
              </a:rPr>
              <a:t>Vision-ready: </a:t>
            </a:r>
            <a:r>
              <a:rPr sz="1500" b="0">
                <a:solidFill>
                  <a:srgbClr val="E8EEFC"/>
                </a:solidFill>
                <a:latin typeface="Segoe UI"/>
              </a:rPr>
              <a:t>edge/jetson/ + a Jetson-ready Dockerfile document the deployment reference (not yet tested on real hardware — the winning kit would be the first node).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82296" cy="5669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8B97B0"/>
                </a:solidFill>
                <a:latin typeface="Segoe UI"/>
              </a:rP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0350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E8EEFC"/>
                </a:solidFill>
                <a:latin typeface="Segoe UI"/>
              </a:rPr>
              <a:t>What changes on the ground in 12 months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8813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FF6B35"/>
                </a:solidFill>
                <a:latin typeface="Segoe UI"/>
              </a:rPr>
              <a:t>▪  </a:t>
            </a:r>
            <a:r>
              <a:rPr sz="1550" b="1">
                <a:solidFill>
                  <a:srgbClr val="E8EEFC"/>
                </a:solidFill>
                <a:latin typeface="Segoe UI"/>
              </a:rPr>
              <a:t>5 priority sites protected in Cotonou</a:t>
            </a:r>
            <a:r>
              <a:rPr sz="1550" b="0">
                <a:solidFill>
                  <a:srgbClr val="8B97B0"/>
                </a:solidFill>
                <a:latin typeface="Segoe UI"/>
              </a:rPr>
              <a:t> — CHU (regional hospital), 3 schools, the port market — with rehearsed response protocols tied to our alert levels.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FF6B35"/>
                </a:solidFill>
                <a:latin typeface="Segoe UI"/>
              </a:rPr>
              <a:t>▪  </a:t>
            </a:r>
            <a:r>
              <a:rPr sz="1550" b="1">
                <a:solidFill>
                  <a:srgbClr val="E8EEFC"/>
                </a:solidFill>
                <a:latin typeface="Segoe UI"/>
              </a:rPr>
              <a:t>60-second alert latency</a:t>
            </a:r>
            <a:r>
              <a:rPr sz="1550" b="0">
                <a:solidFill>
                  <a:srgbClr val="8B97B0"/>
                </a:solidFill>
                <a:latin typeface="Segoe UI"/>
              </a:rPr>
              <a:t> — from heat signal to decision, versus hours with today's bulletins.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FF6B35"/>
                </a:solidFill>
                <a:latin typeface="Segoe UI"/>
              </a:rPr>
              <a:t>▪  </a:t>
            </a:r>
            <a:r>
              <a:rPr sz="1550" b="1">
                <a:solidFill>
                  <a:srgbClr val="E8EEFC"/>
                </a:solidFill>
                <a:latin typeface="Segoe UI"/>
              </a:rPr>
              <a:t>Measurable KPIs</a:t>
            </a:r>
            <a:r>
              <a:rPr sz="1550" b="0">
                <a:solidFill>
                  <a:srgbClr val="8B97B0"/>
                </a:solidFill>
                <a:latin typeface="Segoe UI"/>
              </a:rPr>
              <a:t> — response time, outdoor-work pause hours, cooling-center openings, heatstroke reports — a city dashboard of heat resilience.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50" b="1">
                <a:solidFill>
                  <a:srgbClr val="FF6B35"/>
                </a:solidFill>
                <a:latin typeface="Segoe UI"/>
              </a:rPr>
              <a:t>▪  </a:t>
            </a:r>
            <a:r>
              <a:rPr sz="1550" b="1">
                <a:solidFill>
                  <a:srgbClr val="E8EEFC"/>
                </a:solidFill>
                <a:latin typeface="Segoe UI"/>
              </a:rPr>
              <a:t>Proven, then scaled</a:t>
            </a:r>
            <a:r>
              <a:rPr sz="1550" b="0">
                <a:solidFill>
                  <a:srgbClr val="8B97B0"/>
                </a:solidFill>
                <a:latin typeface="Segoe UI"/>
              </a:rPr>
              <a:t> — Phoenix = the real-data demo (43–46 °C desert heat, in the mesh today) → Cotonou = the deployment target (feels-like &gt;40 °C, awaiting mesh coverage) → Abu Dhabi (humidity extreme): the same stack, different physics, same API.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949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8B97B0"/>
                </a:solidFill>
                <a:latin typeface="Segoe UI"/>
              </a:rPr>
              <a:t>Aligned with the WHO Heat Health Action Plan framework: </a:t>
            </a:r>
            <a:r>
              <a:rPr sz="1400" b="0">
                <a:solidFill>
                  <a:srgbClr val="8B97B0"/>
                </a:solidFill>
                <a:latin typeface="Segoe UI"/>
              </a:rPr>
              <a:t>monitor → nowcast → alert → act, with a human in charge of every action.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097280"/>
            <a:ext cx="128016" cy="155448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972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E8EEFC"/>
                </a:solidFill>
                <a:latin typeface="Segoe UI"/>
              </a:rPr>
              <a:t>Heat will not wait. Neither do we.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FD166"/>
                </a:solidFill>
                <a:latin typeface="Segoe UI"/>
              </a:rPr>
              <a:t>30-day pilot with the City of Cotonou — ask: Temperature API scale credits + Jetson kit for the first edge node (vision).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9184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4CC9F0"/>
                </a:solidFill>
                <a:latin typeface="Segoe UI"/>
              </a:rPr>
              <a:t>Team HeatSentinel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B97B0"/>
                </a:solidFill>
                <a:latin typeface="Segoe UI"/>
              </a:rPr>
              <a:t>[Nom 1] — AI Engineer  ·  [Nom 2] — Data/Geo  ·  [Nom 3] — Product/Design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B97B0"/>
                </a:solidFill>
                <a:latin typeface="Segoe UI"/>
              </a:rPr>
              <a:t>Code: github.com/[you]/heat-sentinel  ·  Live demo: [url]  ·  Video: [url]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852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8B97B0"/>
                </a:solidFill>
                <a:latin typeface="Segoe UI"/>
              </a:rPr>
              <a:t>Thank you.  ·  FortyGuard Hackathon'26  ·  Building the World's Temperature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